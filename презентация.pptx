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8"/>
  </p:notesMasterIdLst>
  <p:sldIdLst>
    <p:sldId id="256" r:id="rId2"/>
    <p:sldId id="257" r:id="rId3"/>
    <p:sldId id="298" r:id="rId4"/>
    <p:sldId id="299" r:id="rId5"/>
    <p:sldId id="300" r:id="rId6"/>
    <p:sldId id="301" r:id="rId7"/>
    <p:sldId id="302" r:id="rId8"/>
    <p:sldId id="304" r:id="rId9"/>
    <p:sldId id="306" r:id="rId10"/>
    <p:sldId id="308" r:id="rId11"/>
    <p:sldId id="309" r:id="rId12"/>
    <p:sldId id="310" r:id="rId13"/>
    <p:sldId id="313" r:id="rId14"/>
    <p:sldId id="314" r:id="rId15"/>
    <p:sldId id="315" r:id="rId16"/>
    <p:sldId id="316" r:id="rId17"/>
  </p:sldIdLst>
  <p:sldSz cx="9144000" cy="5143500" type="screen16x9"/>
  <p:notesSz cx="6858000" cy="9144000"/>
  <p:embeddedFontLst>
    <p:embeddedFont>
      <p:font typeface="Assistant" pitchFamily="2" charset="-79"/>
      <p:regular r:id="rId19"/>
      <p:bold r:id="rId20"/>
    </p:embeddedFont>
    <p:embeddedFont>
      <p:font typeface="Golos Text" panose="020B0503020202020204" pitchFamily="34" charset="0"/>
      <p:regular r:id="rId21"/>
      <p:bold r:id="rId22"/>
    </p:embeddedFont>
    <p:embeddedFont>
      <p:font typeface="Sora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AFC"/>
    <a:srgbClr val="4F7C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041398-00C0-459F-A010-3F918BC0A678}">
  <a:tblStyle styleId="{72041398-00C0-459F-A010-3F918BC0A6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2FA8733-DECA-4B88-B8FF-6860C7AFCC7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7033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2972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4760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9870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0296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9970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7895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1492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1115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8841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4928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57581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48651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6482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099" y="1609650"/>
            <a:ext cx="7713900" cy="149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03613" y="3102750"/>
            <a:ext cx="47367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260969"/>
            <a:ext cx="9144100" cy="6434830"/>
            <a:chOff x="0" y="-260969"/>
            <a:chExt cx="9144100" cy="6434830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459000" y="3458275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4" name="Google Shape;14;p2"/>
            <p:cNvGrpSpPr/>
            <p:nvPr/>
          </p:nvGrpSpPr>
          <p:grpSpPr>
            <a:xfrm>
              <a:off x="715025" y="4448781"/>
              <a:ext cx="457692" cy="146187"/>
              <a:chOff x="715100" y="4416700"/>
              <a:chExt cx="559800" cy="1788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>
              <a:off x="8074921" y="461910"/>
              <a:ext cx="707960" cy="146187"/>
              <a:chOff x="7797150" y="445600"/>
              <a:chExt cx="865900" cy="1788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>
              <a:off x="2661627" y="4121822"/>
              <a:ext cx="2054558" cy="2052038"/>
              <a:chOff x="2661627" y="4121822"/>
              <a:chExt cx="2054558" cy="2052038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38" name="Google Shape;38;p2"/>
            <p:cNvGrpSpPr/>
            <p:nvPr/>
          </p:nvGrpSpPr>
          <p:grpSpPr>
            <a:xfrm>
              <a:off x="5057274" y="-260969"/>
              <a:ext cx="1282527" cy="1043744"/>
              <a:chOff x="5577063" y="-266175"/>
              <a:chExt cx="1527000" cy="1242700"/>
            </a:xfrm>
          </p:grpSpPr>
          <p:sp>
            <p:nvSpPr>
              <p:cNvPr id="39" name="Google Shape;39;p2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"/>
          </p:nvPr>
        </p:nvSpPr>
        <p:spPr>
          <a:xfrm>
            <a:off x="720002" y="1099401"/>
            <a:ext cx="7704000" cy="36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89" name="Google Shape;89;p4"/>
          <p:cNvGrpSpPr/>
          <p:nvPr/>
        </p:nvGrpSpPr>
        <p:grpSpPr>
          <a:xfrm>
            <a:off x="280882" y="461910"/>
            <a:ext cx="8863118" cy="4294790"/>
            <a:chOff x="280882" y="461910"/>
            <a:chExt cx="8863118" cy="4294790"/>
          </a:xfrm>
        </p:grpSpPr>
        <p:sp>
          <p:nvSpPr>
            <p:cNvPr id="90" name="Google Shape;90;p4"/>
            <p:cNvSpPr/>
            <p:nvPr/>
          </p:nvSpPr>
          <p:spPr>
            <a:xfrm>
              <a:off x="8423999" y="4460300"/>
              <a:ext cx="720000" cy="296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91" name="Google Shape;91;p4"/>
            <p:cNvGrpSpPr/>
            <p:nvPr/>
          </p:nvGrpSpPr>
          <p:grpSpPr>
            <a:xfrm>
              <a:off x="280882" y="461910"/>
              <a:ext cx="426986" cy="146100"/>
              <a:chOff x="280882" y="461910"/>
              <a:chExt cx="426986" cy="146100"/>
            </a:xfrm>
          </p:grpSpPr>
          <p:sp>
            <p:nvSpPr>
              <p:cNvPr id="92" name="Google Shape;92;p4"/>
              <p:cNvSpPr/>
              <p:nvPr/>
            </p:nvSpPr>
            <p:spPr>
              <a:xfrm>
                <a:off x="280882" y="461910"/>
                <a:ext cx="1461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561768" y="461910"/>
                <a:ext cx="1461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27" name="Google Shape;127;p8"/>
          <p:cNvGrpSpPr/>
          <p:nvPr/>
        </p:nvGrpSpPr>
        <p:grpSpPr>
          <a:xfrm>
            <a:off x="0" y="-260969"/>
            <a:ext cx="9144100" cy="6434830"/>
            <a:chOff x="0" y="-260969"/>
            <a:chExt cx="9144100" cy="6434830"/>
          </a:xfrm>
        </p:grpSpPr>
        <p:sp>
          <p:nvSpPr>
            <p:cNvPr id="128" name="Google Shape;128;p8"/>
            <p:cNvSpPr/>
            <p:nvPr/>
          </p:nvSpPr>
          <p:spPr>
            <a:xfrm>
              <a:off x="0" y="0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7459000" y="3458275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30" name="Google Shape;130;p8"/>
            <p:cNvGrpSpPr/>
            <p:nvPr/>
          </p:nvGrpSpPr>
          <p:grpSpPr>
            <a:xfrm>
              <a:off x="715025" y="4448781"/>
              <a:ext cx="457692" cy="146187"/>
              <a:chOff x="715100" y="4416700"/>
              <a:chExt cx="559800" cy="178800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33" name="Google Shape;133;p8"/>
            <p:cNvGrpSpPr/>
            <p:nvPr/>
          </p:nvGrpSpPr>
          <p:grpSpPr>
            <a:xfrm>
              <a:off x="8074921" y="461910"/>
              <a:ext cx="707960" cy="146187"/>
              <a:chOff x="7797150" y="445600"/>
              <a:chExt cx="865900" cy="178800"/>
            </a:xfrm>
          </p:grpSpPr>
          <p:sp>
            <p:nvSpPr>
              <p:cNvPr id="134" name="Google Shape;134;p8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5" name="Google Shape;135;p8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6" name="Google Shape;136;p8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37" name="Google Shape;137;p8"/>
            <p:cNvGrpSpPr/>
            <p:nvPr/>
          </p:nvGrpSpPr>
          <p:grpSpPr>
            <a:xfrm>
              <a:off x="2661627" y="4121822"/>
              <a:ext cx="2054558" cy="2052038"/>
              <a:chOff x="2661627" y="4121822"/>
              <a:chExt cx="2054558" cy="2052038"/>
            </a:xfrm>
          </p:grpSpPr>
          <p:sp>
            <p:nvSpPr>
              <p:cNvPr id="138" name="Google Shape;138;p8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9" name="Google Shape;139;p8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1" name="Google Shape;141;p8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2" name="Google Shape;142;p8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3" name="Google Shape;143;p8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4" name="Google Shape;144;p8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6" name="Google Shape;146;p8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7" name="Google Shape;147;p8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9" name="Google Shape;149;p8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1" name="Google Shape;151;p8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2" name="Google Shape;152;p8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3" name="Google Shape;153;p8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54" name="Google Shape;154;p8"/>
            <p:cNvGrpSpPr/>
            <p:nvPr/>
          </p:nvGrpSpPr>
          <p:grpSpPr>
            <a:xfrm>
              <a:off x="5057274" y="-260969"/>
              <a:ext cx="1282527" cy="1043744"/>
              <a:chOff x="5577063" y="-266175"/>
              <a:chExt cx="1527000" cy="1242700"/>
            </a:xfrm>
          </p:grpSpPr>
          <p:sp>
            <p:nvSpPr>
              <p:cNvPr id="155" name="Google Shape;155;p8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6" name="Google Shape;156;p8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7" name="Google Shape;157;p8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8" name="Google Shape;158;p8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0" name="Google Shape;160;p8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2" name="Google Shape;162;p8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2241425" y="16063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5" name="Google Shape;165;p9"/>
          <p:cNvSpPr txBox="1">
            <a:spLocks noGrp="1"/>
          </p:cNvSpPr>
          <p:nvPr>
            <p:ph type="subTitle" idx="1"/>
          </p:nvPr>
        </p:nvSpPr>
        <p:spPr>
          <a:xfrm>
            <a:off x="2241475" y="2481800"/>
            <a:ext cx="4661100" cy="10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66" name="Google Shape;166;p9"/>
          <p:cNvGrpSpPr/>
          <p:nvPr/>
        </p:nvGrpSpPr>
        <p:grpSpPr>
          <a:xfrm>
            <a:off x="0" y="-773544"/>
            <a:ext cx="9144100" cy="5921180"/>
            <a:chOff x="0" y="-773544"/>
            <a:chExt cx="9144100" cy="5921180"/>
          </a:xfrm>
        </p:grpSpPr>
        <p:sp>
          <p:nvSpPr>
            <p:cNvPr id="167" name="Google Shape;167;p9"/>
            <p:cNvSpPr/>
            <p:nvPr/>
          </p:nvSpPr>
          <p:spPr>
            <a:xfrm>
              <a:off x="0" y="4612725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7459000" y="0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69" name="Google Shape;169;p9"/>
            <p:cNvGrpSpPr/>
            <p:nvPr/>
          </p:nvGrpSpPr>
          <p:grpSpPr>
            <a:xfrm>
              <a:off x="4343154" y="461906"/>
              <a:ext cx="457692" cy="146187"/>
              <a:chOff x="715100" y="4416700"/>
              <a:chExt cx="559800" cy="178800"/>
            </a:xfrm>
          </p:grpSpPr>
          <p:sp>
            <p:nvSpPr>
              <p:cNvPr id="170" name="Google Shape;170;p9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1" name="Google Shape;171;p9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2" name="Google Shape;172;p9"/>
            <p:cNvGrpSpPr/>
            <p:nvPr/>
          </p:nvGrpSpPr>
          <p:grpSpPr>
            <a:xfrm>
              <a:off x="4218020" y="4535410"/>
              <a:ext cx="707960" cy="146187"/>
              <a:chOff x="7797150" y="445600"/>
              <a:chExt cx="865900" cy="178800"/>
            </a:xfrm>
          </p:grpSpPr>
          <p:sp>
            <p:nvSpPr>
              <p:cNvPr id="173" name="Google Shape;173;p9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4" name="Google Shape;174;p9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5" name="Google Shape;175;p9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6" name="Google Shape;176;p9"/>
            <p:cNvGrpSpPr/>
            <p:nvPr/>
          </p:nvGrpSpPr>
          <p:grpSpPr>
            <a:xfrm rot="10800000" flipH="1">
              <a:off x="529227" y="-773544"/>
              <a:ext cx="2054558" cy="2052038"/>
              <a:chOff x="2661627" y="4121822"/>
              <a:chExt cx="2054558" cy="2052038"/>
            </a:xfrm>
          </p:grpSpPr>
          <p:sp>
            <p:nvSpPr>
              <p:cNvPr id="177" name="Google Shape;177;p9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8" name="Google Shape;178;p9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9" name="Google Shape;179;p9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0" name="Google Shape;180;p9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1" name="Google Shape;181;p9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2" name="Google Shape;182;p9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3" name="Google Shape;183;p9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4" name="Google Shape;184;p9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5" name="Google Shape;185;p9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6" name="Google Shape;186;p9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7" name="Google Shape;187;p9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8" name="Google Shape;188;p9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9" name="Google Shape;189;p9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0" name="Google Shape;190;p9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1" name="Google Shape;191;p9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2" name="Google Shape;192;p9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93" name="Google Shape;193;p9"/>
            <p:cNvGrpSpPr/>
            <p:nvPr/>
          </p:nvGrpSpPr>
          <p:grpSpPr>
            <a:xfrm rot="10800000" flipH="1">
              <a:off x="7571874" y="4103892"/>
              <a:ext cx="1282527" cy="1043744"/>
              <a:chOff x="5577063" y="-266175"/>
              <a:chExt cx="1527000" cy="1242700"/>
            </a:xfrm>
          </p:grpSpPr>
          <p:sp>
            <p:nvSpPr>
              <p:cNvPr id="194" name="Google Shape;194;p9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5" name="Google Shape;195;p9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>
            <a:spLocks noGrp="1"/>
          </p:cNvSpPr>
          <p:nvPr>
            <p:ph type="title"/>
          </p:nvPr>
        </p:nvSpPr>
        <p:spPr>
          <a:xfrm>
            <a:off x="1779300" y="4038275"/>
            <a:ext cx="5585400" cy="42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24"/>
          <p:cNvGrpSpPr/>
          <p:nvPr/>
        </p:nvGrpSpPr>
        <p:grpSpPr>
          <a:xfrm>
            <a:off x="-50" y="-12559"/>
            <a:ext cx="9144050" cy="5156057"/>
            <a:chOff x="-50" y="-12559"/>
            <a:chExt cx="9144050" cy="5156057"/>
          </a:xfrm>
        </p:grpSpPr>
        <p:sp>
          <p:nvSpPr>
            <p:cNvPr id="418" name="Google Shape;418;p24"/>
            <p:cNvSpPr/>
            <p:nvPr/>
          </p:nvSpPr>
          <p:spPr>
            <a:xfrm rot="10800000" flipH="1">
              <a:off x="-50" y="4602454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19" name="Google Shape;419;p24"/>
            <p:cNvSpPr/>
            <p:nvPr/>
          </p:nvSpPr>
          <p:spPr>
            <a:xfrm rot="10800000" flipH="1">
              <a:off x="7458900" y="-12559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420" name="Google Shape;420;p24"/>
            <p:cNvGrpSpPr/>
            <p:nvPr/>
          </p:nvGrpSpPr>
          <p:grpSpPr>
            <a:xfrm rot="10800000" flipH="1">
              <a:off x="714975" y="535848"/>
              <a:ext cx="457692" cy="146187"/>
              <a:chOff x="715100" y="4416700"/>
              <a:chExt cx="559800" cy="178800"/>
            </a:xfrm>
          </p:grpSpPr>
          <p:sp>
            <p:nvSpPr>
              <p:cNvPr id="421" name="Google Shape;421;p24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2" name="Google Shape;422;p24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23" name="Google Shape;423;p24"/>
            <p:cNvGrpSpPr/>
            <p:nvPr/>
          </p:nvGrpSpPr>
          <p:grpSpPr>
            <a:xfrm rot="10800000" flipH="1">
              <a:off x="8074871" y="4522720"/>
              <a:ext cx="707960" cy="146187"/>
              <a:chOff x="7797150" y="445600"/>
              <a:chExt cx="865900" cy="178800"/>
            </a:xfrm>
          </p:grpSpPr>
          <p:sp>
            <p:nvSpPr>
              <p:cNvPr id="424" name="Google Shape;424;p24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5" name="Google Shape;425;p24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6" name="Google Shape;426;p24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27" name="Google Shape;427;p24"/>
            <p:cNvGrpSpPr/>
            <p:nvPr/>
          </p:nvGrpSpPr>
          <p:grpSpPr>
            <a:xfrm rot="10800000" flipH="1">
              <a:off x="2661577" y="-12544"/>
              <a:ext cx="2054558" cy="2052038"/>
              <a:chOff x="2661627" y="4121822"/>
              <a:chExt cx="2054558" cy="2052038"/>
            </a:xfrm>
          </p:grpSpPr>
          <p:sp>
            <p:nvSpPr>
              <p:cNvPr id="428" name="Google Shape;428;p24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9" name="Google Shape;429;p24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0" name="Google Shape;430;p24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1" name="Google Shape;431;p24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2" name="Google Shape;432;p24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3" name="Google Shape;433;p24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4" name="Google Shape;434;p24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5" name="Google Shape;435;p24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6" name="Google Shape;436;p24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7" name="Google Shape;437;p24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8" name="Google Shape;438;p24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9" name="Google Shape;439;p24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0" name="Google Shape;440;p24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1" name="Google Shape;441;p24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2" name="Google Shape;442;p24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3" name="Google Shape;443;p24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44" name="Google Shape;444;p24"/>
            <p:cNvGrpSpPr/>
            <p:nvPr/>
          </p:nvGrpSpPr>
          <p:grpSpPr>
            <a:xfrm rot="10800000" flipH="1">
              <a:off x="5057224" y="4099754"/>
              <a:ext cx="1282527" cy="1043744"/>
              <a:chOff x="5577063" y="-266175"/>
              <a:chExt cx="1527000" cy="1242700"/>
            </a:xfrm>
          </p:grpSpPr>
          <p:sp>
            <p:nvSpPr>
              <p:cNvPr id="445" name="Google Shape;445;p24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6" name="Google Shape;446;p24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7" name="Google Shape;447;p24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8" name="Google Shape;448;p24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9" name="Google Shape;449;p24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0" name="Google Shape;450;p24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1" name="Google Shape;451;p24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2" name="Google Shape;452;p24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25"/>
          <p:cNvGrpSpPr/>
          <p:nvPr/>
        </p:nvGrpSpPr>
        <p:grpSpPr>
          <a:xfrm>
            <a:off x="0" y="6"/>
            <a:ext cx="9144100" cy="5147655"/>
            <a:chOff x="0" y="6"/>
            <a:chExt cx="9144100" cy="5147655"/>
          </a:xfrm>
        </p:grpSpPr>
        <p:sp>
          <p:nvSpPr>
            <p:cNvPr id="455" name="Google Shape;455;p25"/>
            <p:cNvSpPr/>
            <p:nvPr/>
          </p:nvSpPr>
          <p:spPr>
            <a:xfrm rot="10800000" flipH="1">
              <a:off x="0" y="16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56" name="Google Shape;456;p25"/>
            <p:cNvSpPr/>
            <p:nvPr/>
          </p:nvSpPr>
          <p:spPr>
            <a:xfrm rot="10800000" flipH="1">
              <a:off x="7459000" y="3462541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457" name="Google Shape;457;p25"/>
            <p:cNvGrpSpPr/>
            <p:nvPr/>
          </p:nvGrpSpPr>
          <p:grpSpPr>
            <a:xfrm rot="10800000" flipH="1">
              <a:off x="4343154" y="4539548"/>
              <a:ext cx="457692" cy="146187"/>
              <a:chOff x="715100" y="4416700"/>
              <a:chExt cx="559800" cy="178800"/>
            </a:xfrm>
          </p:grpSpPr>
          <p:sp>
            <p:nvSpPr>
              <p:cNvPr id="458" name="Google Shape;458;p25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9" name="Google Shape;459;p25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60" name="Google Shape;460;p25"/>
            <p:cNvGrpSpPr/>
            <p:nvPr/>
          </p:nvGrpSpPr>
          <p:grpSpPr>
            <a:xfrm rot="10800000" flipH="1">
              <a:off x="4218020" y="466045"/>
              <a:ext cx="707960" cy="146187"/>
              <a:chOff x="7797150" y="445600"/>
              <a:chExt cx="865900" cy="178800"/>
            </a:xfrm>
          </p:grpSpPr>
          <p:sp>
            <p:nvSpPr>
              <p:cNvPr id="461" name="Google Shape;461;p25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2" name="Google Shape;462;p25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3" name="Google Shape;463;p25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64" name="Google Shape;464;p25"/>
            <p:cNvGrpSpPr/>
            <p:nvPr/>
          </p:nvGrpSpPr>
          <p:grpSpPr>
            <a:xfrm>
              <a:off x="538752" y="3095622"/>
              <a:ext cx="2054558" cy="2052038"/>
              <a:chOff x="2661627" y="4121822"/>
              <a:chExt cx="2054558" cy="2052038"/>
            </a:xfrm>
          </p:grpSpPr>
          <p:sp>
            <p:nvSpPr>
              <p:cNvPr id="465" name="Google Shape;465;p25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6" name="Google Shape;466;p25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7" name="Google Shape;467;p25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8" name="Google Shape;468;p25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9" name="Google Shape;469;p25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0" name="Google Shape;470;p25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1" name="Google Shape;471;p25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2" name="Google Shape;472;p25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3" name="Google Shape;473;p25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4" name="Google Shape;474;p25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5" name="Google Shape;475;p25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6" name="Google Shape;476;p25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7" name="Google Shape;477;p25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8" name="Google Shape;478;p25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9" name="Google Shape;479;p25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0" name="Google Shape;480;p25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81" name="Google Shape;481;p25"/>
            <p:cNvGrpSpPr/>
            <p:nvPr/>
          </p:nvGrpSpPr>
          <p:grpSpPr>
            <a:xfrm>
              <a:off x="7343274" y="6"/>
              <a:ext cx="1282527" cy="1043744"/>
              <a:chOff x="5577063" y="-266175"/>
              <a:chExt cx="1527000" cy="1242700"/>
            </a:xfrm>
          </p:grpSpPr>
          <p:sp>
            <p:nvSpPr>
              <p:cNvPr id="482" name="Google Shape;482;p25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3" name="Google Shape;483;p25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5" name="Google Shape;485;p25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6" name="Google Shape;486;p25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6" r:id="rId5"/>
    <p:sldLayoutId id="2147483658" r:id="rId6"/>
    <p:sldLayoutId id="2147483670" r:id="rId7"/>
    <p:sldLayoutId id="2147483671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9"/>
          <p:cNvSpPr txBox="1">
            <a:spLocks noGrp="1"/>
          </p:cNvSpPr>
          <p:nvPr>
            <p:ph type="ctrTitle"/>
          </p:nvPr>
        </p:nvSpPr>
        <p:spPr>
          <a:xfrm>
            <a:off x="715050" y="1318582"/>
            <a:ext cx="7713900" cy="125316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dirty="0"/>
              <a:t>РАЗРАБОТКА, АДАПТАЦИЯ И ПУБЛИКАЦИЯ САЙТА-КАТАЛОГА</a:t>
            </a:r>
            <a:endParaRPr lang="en-US" sz="3600" b="0" dirty="0"/>
          </a:p>
        </p:txBody>
      </p:sp>
      <p:sp>
        <p:nvSpPr>
          <p:cNvPr id="501" name="Google Shape;501;p29"/>
          <p:cNvSpPr txBox="1">
            <a:spLocks noGrp="1"/>
          </p:cNvSpPr>
          <p:nvPr>
            <p:ph type="subTitle" idx="1"/>
          </p:nvPr>
        </p:nvSpPr>
        <p:spPr>
          <a:xfrm>
            <a:off x="194703" y="2646551"/>
            <a:ext cx="4736700" cy="1640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/>
              <a:t>Выполнил: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/>
              <a:t>студент III курса группы ИСП-311 специальности 09.02.07 Информационные системы и программирование (разработчик веб и мультимедийных приложений)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/>
              <a:t>Фомин Максим Викторович.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/>
              <a:t>Руководитель: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 err="1"/>
              <a:t>Борсук</a:t>
            </a:r>
            <a:r>
              <a:rPr lang="ru-RU" sz="1200" dirty="0"/>
              <a:t> Артур Игоревич.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Актуальность работы</a:t>
            </a: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1"/>
          </p:nvPr>
        </p:nvSpPr>
        <p:spPr>
          <a:xfrm>
            <a:off x="379912" y="928219"/>
            <a:ext cx="8044088" cy="35000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ru-RU" sz="2400" dirty="0">
                <a:latin typeface="Golos Text" panose="020B0503020202020204" pitchFamily="34" charset="0"/>
                <a:cs typeface="Golos Text" panose="020B0503020202020204" pitchFamily="34" charset="0"/>
              </a:rPr>
              <a:t>Цифровая экономика требует присутствия бизнеса в интернете.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ru-RU" sz="2400" dirty="0">
                <a:latin typeface="Golos Text" panose="020B0503020202020204" pitchFamily="34" charset="0"/>
                <a:cs typeface="Golos Text" panose="020B0503020202020204" pitchFamily="34" charset="0"/>
              </a:rPr>
              <a:t>Большинство покупателей ищут и сравнивают товары онлайн.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ru-RU" sz="2400" b="1" dirty="0">
                <a:latin typeface="Golos Text" panose="020B0503020202020204" pitchFamily="34" charset="0"/>
                <a:cs typeface="Golos Text" panose="020B0503020202020204" pitchFamily="34" charset="0"/>
              </a:rPr>
              <a:t>Сайт-каталог</a:t>
            </a:r>
            <a:r>
              <a:rPr lang="ru-RU" sz="2400" dirty="0">
                <a:latin typeface="Golos Text" panose="020B0503020202020204" pitchFamily="34" charset="0"/>
                <a:cs typeface="Golos Text" panose="020B0503020202020204" pitchFamily="34" charset="0"/>
              </a:rPr>
              <a:t> — эффективный инструмент структурированного представления ассортимента.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ru-RU" sz="2400" dirty="0">
                <a:latin typeface="Golos Text" panose="020B0503020202020204" pitchFamily="34" charset="0"/>
                <a:cs typeface="Golos Text" panose="020B0503020202020204" pitchFamily="34" charset="0"/>
              </a:rPr>
              <a:t>Повышенные требования к адаптивности, удобству интерфейса и визуальной эстетике.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Цель </a:t>
            </a:r>
            <a:r>
              <a:rPr lang="ru-RU"/>
              <a:t>и объект</a:t>
            </a:r>
            <a:endParaRPr lang="ru-RU" dirty="0"/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1"/>
          </p:nvPr>
        </p:nvSpPr>
        <p:spPr>
          <a:xfrm>
            <a:off x="331461" y="766226"/>
            <a:ext cx="7980334" cy="27880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l">
              <a:buSzPct val="100000"/>
              <a:buFont typeface="Arial" panose="020B0604020202020204" pitchFamily="34" charset="0"/>
              <a:buChar char="•"/>
            </a:pPr>
            <a:r>
              <a:rPr lang="ru-RU" sz="2400" b="1" dirty="0">
                <a:latin typeface="Golos Text" panose="020B0503020202020204" pitchFamily="34" charset="0"/>
                <a:cs typeface="Golos Text" panose="020B0503020202020204" pitchFamily="34" charset="0"/>
              </a:rPr>
              <a:t>Цель: </a:t>
            </a:r>
            <a:r>
              <a:rPr lang="ru-RU" sz="2400" dirty="0">
                <a:latin typeface="Golos Text" panose="020B0503020202020204" pitchFamily="34" charset="0"/>
                <a:cs typeface="Golos Text" panose="020B0503020202020204" pitchFamily="34" charset="0"/>
              </a:rPr>
              <a:t>Разработать и опубликовать адаптированный сайт-каталог цифровой и бытовой техники «SainSan».</a:t>
            </a:r>
          </a:p>
          <a:p>
            <a:pPr marL="171450" indent="-171450" algn="l">
              <a:buSzPct val="100000"/>
              <a:buFont typeface="Arial" panose="020B0604020202020204" pitchFamily="34" charset="0"/>
              <a:buChar char="•"/>
            </a:pPr>
            <a:r>
              <a:rPr lang="ru-RU" sz="2400" b="1" dirty="0">
                <a:latin typeface="Golos Text" panose="020B0503020202020204" pitchFamily="34" charset="0"/>
                <a:cs typeface="Golos Text" panose="020B0503020202020204" pitchFamily="34" charset="0"/>
              </a:rPr>
              <a:t>Объект проекта: </a:t>
            </a:r>
            <a:r>
              <a:rPr lang="ru-RU" sz="2400" dirty="0">
                <a:latin typeface="Golos Text" panose="020B0503020202020204" pitchFamily="34" charset="0"/>
                <a:cs typeface="Golos Text" panose="020B0503020202020204" pitchFamily="34" charset="0"/>
              </a:rPr>
              <a:t>Процесс разработки, адаптации и публикации сайта-каталога.</a:t>
            </a:r>
          </a:p>
          <a:p>
            <a:pPr marL="171450" indent="-171450" algn="l">
              <a:buSzPct val="100000"/>
              <a:buFont typeface="Arial" panose="020B0604020202020204" pitchFamily="34" charset="0"/>
              <a:buChar char="•"/>
            </a:pPr>
            <a:r>
              <a:rPr lang="ru-RU" sz="2400" b="1" dirty="0">
                <a:latin typeface="Golos Text" panose="020B0503020202020204" pitchFamily="34" charset="0"/>
                <a:cs typeface="Golos Text" panose="020B0503020202020204" pitchFamily="34" charset="0"/>
              </a:rPr>
              <a:t>Предмет проекта: </a:t>
            </a:r>
            <a:r>
              <a:rPr lang="ru-RU" sz="2400" dirty="0">
                <a:latin typeface="Golos Text" panose="020B0503020202020204" pitchFamily="34" charset="0"/>
                <a:cs typeface="Golos Text" panose="020B0503020202020204" pitchFamily="34" charset="0"/>
              </a:rPr>
              <a:t>Visual Studio Code, HTML5, CSS3, JavaScript, </a:t>
            </a:r>
            <a:r>
              <a:rPr lang="ru-RU" sz="2400" dirty="0" err="1">
                <a:latin typeface="Golos Text" panose="020B0503020202020204" pitchFamily="34" charset="0"/>
                <a:cs typeface="Golos Text" panose="020B0503020202020204" pitchFamily="34" charset="0"/>
              </a:rPr>
              <a:t>Figma</a:t>
            </a:r>
            <a:r>
              <a:rPr lang="ru-RU" sz="2400" dirty="0">
                <a:latin typeface="Golos Text" panose="020B0503020202020204" pitchFamily="34" charset="0"/>
                <a:cs typeface="Golos Text" panose="020B0503020202020204" pitchFamily="34" charset="0"/>
              </a:rPr>
              <a:t>.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3ED6E84-343D-6EAE-88EA-743CE2F800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E3401B12-9D15-CA48-F675-A572B38C1C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2098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>
            <a:spLocks noGrp="1"/>
          </p:cNvSpPr>
          <p:nvPr>
            <p:ph type="title"/>
          </p:nvPr>
        </p:nvSpPr>
        <p:spPr>
          <a:xfrm>
            <a:off x="704702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Задачи работы</a:t>
            </a: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1"/>
          </p:nvPr>
        </p:nvSpPr>
        <p:spPr>
          <a:xfrm>
            <a:off x="80818" y="774608"/>
            <a:ext cx="8982364" cy="38990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457200" algn="l">
              <a:buSzPct val="100000"/>
              <a:buFont typeface="+mj-lt"/>
              <a:buAutoNum type="arabicPeriod"/>
            </a:pPr>
            <a:r>
              <a:rPr lang="ru-RU" sz="2400" dirty="0">
                <a:latin typeface="Golos Text" panose="020B0503020202020204" pitchFamily="34" charset="0"/>
                <a:cs typeface="Golos Text" panose="020B0503020202020204" pitchFamily="34" charset="0"/>
              </a:rPr>
              <a:t>Изучить учебную и техническую литературу по теме.</a:t>
            </a:r>
          </a:p>
          <a:p>
            <a:pPr lvl="0" indent="-457200" algn="l">
              <a:buSzPct val="100000"/>
              <a:buFont typeface="+mj-lt"/>
              <a:buAutoNum type="arabicPeriod"/>
            </a:pPr>
            <a:r>
              <a:rPr lang="ru-RU" sz="2400" dirty="0">
                <a:latin typeface="Golos Text" panose="020B0503020202020204" pitchFamily="34" charset="0"/>
                <a:cs typeface="Golos Text" panose="020B0503020202020204" pitchFamily="34" charset="0"/>
              </a:rPr>
              <a:t>Раскрыть понятие сайта-каталога, способы его создания, элементы и особенности веб-дизайна.</a:t>
            </a:r>
          </a:p>
          <a:p>
            <a:pPr lvl="0" indent="-457200" algn="l">
              <a:buSzPct val="100000"/>
              <a:buFont typeface="+mj-lt"/>
              <a:buAutoNum type="arabicPeriod"/>
            </a:pPr>
            <a:r>
              <a:rPr lang="ru-RU" sz="2400" dirty="0">
                <a:latin typeface="Golos Text" panose="020B0503020202020204" pitchFamily="34" charset="0"/>
                <a:cs typeface="Golos Text" panose="020B0503020202020204" pitchFamily="34" charset="0"/>
              </a:rPr>
              <a:t>Провести анализ подобных проектов (DNS, М.Видео, Эльдорадо).</a:t>
            </a:r>
          </a:p>
          <a:p>
            <a:pPr lvl="0" indent="-457200" algn="l">
              <a:buSzPct val="100000"/>
              <a:buFont typeface="+mj-lt"/>
              <a:buAutoNum type="arabicPeriod"/>
            </a:pPr>
            <a:r>
              <a:rPr lang="ru-RU" sz="2400" dirty="0">
                <a:latin typeface="Golos Text" panose="020B0503020202020204" pitchFamily="34" charset="0"/>
                <a:cs typeface="Golos Text" panose="020B0503020202020204" pitchFamily="34" charset="0"/>
              </a:rPr>
              <a:t>Разработать техническое задание и дизайн-макет.</a:t>
            </a:r>
          </a:p>
          <a:p>
            <a:pPr lvl="0" indent="-457200" algn="l">
              <a:buSzPct val="100000"/>
              <a:buFont typeface="+mj-lt"/>
              <a:buAutoNum type="arabicPeriod"/>
            </a:pPr>
            <a:r>
              <a:rPr lang="ru-RU" sz="2400" dirty="0">
                <a:latin typeface="Golos Text" panose="020B0503020202020204" pitchFamily="34" charset="0"/>
                <a:cs typeface="Golos Text" panose="020B0503020202020204" pitchFamily="34" charset="0"/>
              </a:rPr>
              <a:t>Описать этапы разработки, адаптации и публикации сайта-каталога «SainSan».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3ED6E84-343D-6EAE-88EA-743CE2F800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E3401B12-9D15-CA48-F675-A572B38C1C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540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>
            <a:spLocks noGrp="1"/>
          </p:cNvSpPr>
          <p:nvPr>
            <p:ph type="title"/>
          </p:nvPr>
        </p:nvSpPr>
        <p:spPr>
          <a:xfrm>
            <a:off x="704702" y="0"/>
            <a:ext cx="7704000" cy="633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Понятие сайта-каталога</a:t>
            </a: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1"/>
          </p:nvPr>
        </p:nvSpPr>
        <p:spPr>
          <a:xfrm>
            <a:off x="233218" y="633549"/>
            <a:ext cx="8982364" cy="42872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buSzPct val="100000"/>
            </a:pPr>
            <a:r>
              <a:rPr lang="ru-RU" sz="2200" b="1" dirty="0">
                <a:latin typeface="Golos Text" panose="020B0503020202020204" pitchFamily="34" charset="0"/>
                <a:cs typeface="Golos Text" panose="020B0503020202020204" pitchFamily="34" charset="0"/>
              </a:rPr>
              <a:t>Сайт-каталог</a:t>
            </a:r>
            <a:r>
              <a:rPr lang="ru-RU" sz="2200" dirty="0">
                <a:latin typeface="Golos Text" panose="020B0503020202020204" pitchFamily="34" charset="0"/>
                <a:cs typeface="Golos Text" panose="020B0503020202020204" pitchFamily="34" charset="0"/>
              </a:rPr>
              <a:t> — веб-ресурс для систематизированного представления информации о товарах, услугах или объектах.</a:t>
            </a:r>
          </a:p>
          <a:p>
            <a:pPr marL="0" indent="0" algn="l">
              <a:buSzPct val="100000"/>
            </a:pPr>
            <a:endParaRPr lang="ru-RU" sz="2200" dirty="0">
              <a:latin typeface="Golos Text" panose="020B0503020202020204" pitchFamily="34" charset="0"/>
              <a:cs typeface="Golos Text" panose="020B0503020202020204" pitchFamily="34" charset="0"/>
            </a:endParaRPr>
          </a:p>
          <a:p>
            <a:pPr marL="0" indent="0" algn="l">
              <a:buSzPct val="100000"/>
            </a:pPr>
            <a:r>
              <a:rPr lang="ru-RU" sz="2200" dirty="0">
                <a:latin typeface="Golos Text" panose="020B0503020202020204" pitchFamily="34" charset="0"/>
                <a:cs typeface="Golos Text" panose="020B0503020202020204" pitchFamily="34" charset="0"/>
              </a:rPr>
              <a:t>Особенности:</a:t>
            </a:r>
          </a:p>
          <a:p>
            <a:pPr marL="171450" indent="-171450" algn="l">
              <a:buSzPct val="100000"/>
              <a:buFont typeface="Arial" panose="020B0604020202020204" pitchFamily="34" charset="0"/>
              <a:buChar char="•"/>
            </a:pPr>
            <a:r>
              <a:rPr lang="ru-RU" sz="2200" dirty="0">
                <a:latin typeface="Golos Text" panose="020B0503020202020204" pitchFamily="34" charset="0"/>
                <a:cs typeface="Golos Text" panose="020B0503020202020204" pitchFamily="34" charset="0"/>
              </a:rPr>
              <a:t>Иерархическая структура (категории → подкатегории → товары).</a:t>
            </a:r>
          </a:p>
          <a:p>
            <a:pPr marL="171450" indent="-171450" algn="l">
              <a:buSzPct val="100000"/>
              <a:buFont typeface="Arial" panose="020B0604020202020204" pitchFamily="34" charset="0"/>
              <a:buChar char="•"/>
            </a:pPr>
            <a:r>
              <a:rPr lang="ru-RU" sz="2200" dirty="0">
                <a:latin typeface="Golos Text" panose="020B0503020202020204" pitchFamily="34" charset="0"/>
                <a:cs typeface="Golos Text" panose="020B0503020202020204" pitchFamily="34" charset="0"/>
              </a:rPr>
              <a:t>Карточка товара: название, изображение, цена, характеристики.</a:t>
            </a:r>
          </a:p>
          <a:p>
            <a:pPr marL="171450" indent="-171450" algn="l">
              <a:buSzPct val="100000"/>
              <a:buFont typeface="Arial" panose="020B0604020202020204" pitchFamily="34" charset="0"/>
              <a:buChar char="•"/>
            </a:pPr>
            <a:r>
              <a:rPr lang="ru-RU" sz="2200" dirty="0">
                <a:latin typeface="Golos Text" panose="020B0503020202020204" pitchFamily="34" charset="0"/>
                <a:cs typeface="Golos Text" panose="020B0503020202020204" pitchFamily="34" charset="0"/>
              </a:rPr>
              <a:t>Удобная навигация: поиск, фильтрация, сортировка.</a:t>
            </a:r>
          </a:p>
          <a:p>
            <a:pPr marL="171450" indent="-171450" algn="l">
              <a:buSzPct val="100000"/>
              <a:buFont typeface="Arial" panose="020B0604020202020204" pitchFamily="34" charset="0"/>
              <a:buChar char="•"/>
            </a:pPr>
            <a:r>
              <a:rPr lang="ru-RU" sz="2200" dirty="0">
                <a:latin typeface="Golos Text" panose="020B0503020202020204" pitchFamily="34" charset="0"/>
                <a:cs typeface="Golos Text" panose="020B0503020202020204" pitchFamily="34" charset="0"/>
              </a:rPr>
              <a:t>Может выполнять информационную или коммерческую функцию.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3ED6E84-343D-6EAE-88EA-743CE2F800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E3401B12-9D15-CA48-F675-A572B38C1C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4595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>
            <a:spLocks noGrp="1"/>
          </p:cNvSpPr>
          <p:nvPr>
            <p:ph type="title"/>
          </p:nvPr>
        </p:nvSpPr>
        <p:spPr>
          <a:xfrm>
            <a:off x="704702" y="0"/>
            <a:ext cx="7704000" cy="5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Способы создания сайтов-каталогов</a:t>
            </a:r>
          </a:p>
        </p:txBody>
      </p:sp>
      <p:sp>
        <p:nvSpPr>
          <p:cNvPr id="507" name="Google Shape;507;p30"/>
          <p:cNvSpPr txBox="1">
            <a:spLocks noGrp="1"/>
          </p:cNvSpPr>
          <p:nvPr>
            <p:ph type="subTitle" idx="1"/>
          </p:nvPr>
        </p:nvSpPr>
        <p:spPr>
          <a:xfrm>
            <a:off x="704702" y="1108362"/>
            <a:ext cx="2232891" cy="5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/>
              <a:t>Разработка с нуля</a:t>
            </a:r>
          </a:p>
        </p:txBody>
      </p:sp>
      <p:pic>
        <p:nvPicPr>
          <p:cNvPr id="3076" name="Picture 4" descr="Изображение логотипа">
            <a:extLst>
              <a:ext uri="{FF2B5EF4-FFF2-40B4-BE49-F238E27FC236}">
                <a16:creationId xmlns:a16="http://schemas.microsoft.com/office/drawing/2014/main" id="{64758F92-9B30-7CFC-2338-B3F296094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6" y="1696226"/>
            <a:ext cx="625186" cy="62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undefined">
            <a:extLst>
              <a:ext uri="{FF2B5EF4-FFF2-40B4-BE49-F238E27FC236}">
                <a16:creationId xmlns:a16="http://schemas.microsoft.com/office/drawing/2014/main" id="{9DEF77B7-B7FB-524E-9D8D-09C06EC05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398" y="1691362"/>
            <a:ext cx="446091" cy="63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Изображение логотипа">
            <a:extLst>
              <a:ext uri="{FF2B5EF4-FFF2-40B4-BE49-F238E27FC236}">
                <a16:creationId xmlns:a16="http://schemas.microsoft.com/office/drawing/2014/main" id="{C5FE17DA-2215-7D87-9BEA-38AEC4E02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505" y="1756985"/>
            <a:ext cx="503667" cy="50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Изображение логотипа">
            <a:extLst>
              <a:ext uri="{FF2B5EF4-FFF2-40B4-BE49-F238E27FC236}">
                <a16:creationId xmlns:a16="http://schemas.microsoft.com/office/drawing/2014/main" id="{C3CA1111-C606-7AC7-4FE2-7F4157629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88" y="1756565"/>
            <a:ext cx="769815" cy="528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CC3CEF-1D30-737A-04B7-C36872AE9F35}"/>
              </a:ext>
            </a:extLst>
          </p:cNvPr>
          <p:cNvSpPr txBox="1"/>
          <p:nvPr/>
        </p:nvSpPr>
        <p:spPr>
          <a:xfrm>
            <a:off x="4116680" y="1168356"/>
            <a:ext cx="4572000" cy="463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900"/>
            </a:pPr>
            <a:r>
              <a:rPr lang="ru-RU" sz="1800" b="1" dirty="0">
                <a:solidFill>
                  <a:schemeClr val="dk1"/>
                </a:solidFill>
                <a:cs typeface="Assistant"/>
                <a:sym typeface="Assistant"/>
              </a:rPr>
              <a:t>Системы управления контентом (</a:t>
            </a:r>
            <a:r>
              <a:rPr lang="en-US" sz="1800" b="1" dirty="0">
                <a:solidFill>
                  <a:schemeClr val="dk1"/>
                </a:solidFill>
                <a:latin typeface="Assistant"/>
                <a:cs typeface="Assistant"/>
                <a:sym typeface="Assistant"/>
              </a:rPr>
              <a:t>CMS)</a:t>
            </a:r>
            <a:endParaRPr lang="ru-RU" sz="1800" b="1" dirty="0">
              <a:solidFill>
                <a:schemeClr val="dk1"/>
              </a:solidFill>
              <a:cs typeface="Assistant"/>
              <a:sym typeface="Assistant"/>
            </a:endParaRPr>
          </a:p>
        </p:txBody>
      </p:sp>
      <p:pic>
        <p:nvPicPr>
          <p:cNvPr id="3090" name="Picture 18" descr="Picture background">
            <a:extLst>
              <a:ext uri="{FF2B5EF4-FFF2-40B4-BE49-F238E27FC236}">
                <a16:creationId xmlns:a16="http://schemas.microsoft.com/office/drawing/2014/main" id="{EE5A9A94-9655-3E39-AAE2-47F2C5FC2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745" y="1594714"/>
            <a:ext cx="824053" cy="824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676B81E-9227-89E2-AB7B-1329AA1182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6073" y="1675865"/>
            <a:ext cx="594924" cy="594924"/>
          </a:xfrm>
          <a:prstGeom prst="rect">
            <a:avLst/>
          </a:prstGeom>
        </p:spPr>
      </p:pic>
      <p:pic>
        <p:nvPicPr>
          <p:cNvPr id="3100" name="Picture 28" descr="Picture background">
            <a:extLst>
              <a:ext uri="{FF2B5EF4-FFF2-40B4-BE49-F238E27FC236}">
                <a16:creationId xmlns:a16="http://schemas.microsoft.com/office/drawing/2014/main" id="{F8E1AEE7-B717-6929-E868-6B178C20B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272" y="1783768"/>
            <a:ext cx="2226537" cy="434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6950D7-EA6B-0DC8-AEE7-6B646C26597D}"/>
              </a:ext>
            </a:extLst>
          </p:cNvPr>
          <p:cNvSpPr txBox="1"/>
          <p:nvPr/>
        </p:nvSpPr>
        <p:spPr>
          <a:xfrm>
            <a:off x="396945" y="2876668"/>
            <a:ext cx="266512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900"/>
            </a:pPr>
            <a:r>
              <a:rPr lang="ru-RU" sz="1800" b="1" dirty="0">
                <a:solidFill>
                  <a:schemeClr val="dk1"/>
                </a:solidFill>
                <a:cs typeface="Assistant"/>
                <a:sym typeface="Assistant"/>
              </a:rPr>
              <a:t>Конструкторы сайтов</a:t>
            </a:r>
          </a:p>
        </p:txBody>
      </p:sp>
      <p:pic>
        <p:nvPicPr>
          <p:cNvPr id="3102" name="Picture 30">
            <a:extLst>
              <a:ext uri="{FF2B5EF4-FFF2-40B4-BE49-F238E27FC236}">
                <a16:creationId xmlns:a16="http://schemas.microsoft.com/office/drawing/2014/main" id="{31B77021-130C-770E-18CD-456224201D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/>
          <a:srcRect l="25333" t="26439" r="51693" b="29404"/>
          <a:stretch/>
        </p:blipFill>
        <p:spPr bwMode="auto">
          <a:xfrm>
            <a:off x="200115" y="3229840"/>
            <a:ext cx="789322" cy="853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4" name="Picture 32" descr="Picture background">
            <a:extLst>
              <a:ext uri="{FF2B5EF4-FFF2-40B4-BE49-F238E27FC236}">
                <a16:creationId xmlns:a16="http://schemas.microsoft.com/office/drawing/2014/main" id="{B89F9374-DE5C-9D60-9F6C-F526A0CA4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064" y="3506718"/>
            <a:ext cx="962480" cy="371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6" name="Picture 34" descr="Picture background">
            <a:extLst>
              <a:ext uri="{FF2B5EF4-FFF2-40B4-BE49-F238E27FC236}">
                <a16:creationId xmlns:a16="http://schemas.microsoft.com/office/drawing/2014/main" id="{18DBA0DB-8F50-28DC-D07D-1678B42A29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14" t="29954" r="26121" b="32828"/>
          <a:stretch/>
        </p:blipFill>
        <p:spPr bwMode="auto">
          <a:xfrm>
            <a:off x="2233172" y="3340295"/>
            <a:ext cx="1167332" cy="608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0A5002B-F050-01A8-44E6-3395C242DBC8}"/>
              </a:ext>
            </a:extLst>
          </p:cNvPr>
          <p:cNvSpPr txBox="1"/>
          <p:nvPr/>
        </p:nvSpPr>
        <p:spPr>
          <a:xfrm>
            <a:off x="5520738" y="2885475"/>
            <a:ext cx="2159218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900"/>
            </a:pPr>
            <a:r>
              <a:rPr lang="ru-RU" sz="1800" b="1" dirty="0">
                <a:solidFill>
                  <a:schemeClr val="dk1"/>
                </a:solidFill>
                <a:cs typeface="Assistant"/>
                <a:sym typeface="Assistant"/>
              </a:rPr>
              <a:t>Веб-фреймворки</a:t>
            </a:r>
          </a:p>
        </p:txBody>
      </p:sp>
      <p:pic>
        <p:nvPicPr>
          <p:cNvPr id="3110" name="Picture 38" descr="Picture background">
            <a:extLst>
              <a:ext uri="{FF2B5EF4-FFF2-40B4-BE49-F238E27FC236}">
                <a16:creationId xmlns:a16="http://schemas.microsoft.com/office/drawing/2014/main" id="{E0BA1728-8FD9-A726-2C2E-6473ED824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389" y="3343330"/>
            <a:ext cx="1787236" cy="51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4" name="Picture 42" descr="Picture background">
            <a:extLst>
              <a:ext uri="{FF2B5EF4-FFF2-40B4-BE49-F238E27FC236}">
                <a16:creationId xmlns:a16="http://schemas.microsoft.com/office/drawing/2014/main" id="{9713EF68-465B-B2E6-927E-B3B6DFC62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114" y="3384303"/>
            <a:ext cx="1226467" cy="424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6" name="Picture 44" descr="Picture background">
            <a:extLst>
              <a:ext uri="{FF2B5EF4-FFF2-40B4-BE49-F238E27FC236}">
                <a16:creationId xmlns:a16="http://schemas.microsoft.com/office/drawing/2014/main" id="{74761F65-20F7-2136-5487-35CC4DFAD3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3" t="37083" r="6278" b="37083"/>
          <a:stretch/>
        </p:blipFill>
        <p:spPr bwMode="auto">
          <a:xfrm>
            <a:off x="7423070" y="3384302"/>
            <a:ext cx="1460876" cy="424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016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>
            <a:spLocks noGrp="1"/>
          </p:cNvSpPr>
          <p:nvPr>
            <p:ph type="title"/>
          </p:nvPr>
        </p:nvSpPr>
        <p:spPr>
          <a:xfrm>
            <a:off x="426576" y="-1"/>
            <a:ext cx="8290846" cy="9797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Особенности веб-дизайна сайтов-каталогов</a:t>
            </a:r>
          </a:p>
        </p:txBody>
      </p:sp>
      <p:sp>
        <p:nvSpPr>
          <p:cNvPr id="6" name="Google Shape;507;p30">
            <a:extLst>
              <a:ext uri="{FF2B5EF4-FFF2-40B4-BE49-F238E27FC236}">
                <a16:creationId xmlns:a16="http://schemas.microsoft.com/office/drawing/2014/main" id="{34C523FE-1423-0210-1100-0D6571DDD4DD}"/>
              </a:ext>
            </a:extLst>
          </p:cNvPr>
          <p:cNvSpPr txBox="1">
            <a:spLocks/>
          </p:cNvSpPr>
          <p:nvPr/>
        </p:nvSpPr>
        <p:spPr>
          <a:xfrm>
            <a:off x="80818" y="867493"/>
            <a:ext cx="8982364" cy="5630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None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ru-RU" sz="2200" dirty="0">
                <a:latin typeface="Golos Text" panose="020B0503020202020204" pitchFamily="34" charset="0"/>
                <a:cs typeface="Golos Text" panose="020B0503020202020204" pitchFamily="34" charset="0"/>
              </a:rPr>
              <a:t>Чёткая иерархия информации (главная → категории → товар).</a:t>
            </a: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ru-RU" sz="2200" dirty="0">
                <a:latin typeface="Golos Text" panose="020B0503020202020204" pitchFamily="34" charset="0"/>
                <a:cs typeface="Golos Text" panose="020B0503020202020204" pitchFamily="34" charset="0"/>
              </a:rPr>
              <a:t>Единый стиль карточек товаров.</a:t>
            </a: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ru-RU" sz="2200" dirty="0">
                <a:latin typeface="Golos Text" panose="020B0503020202020204" pitchFamily="34" charset="0"/>
                <a:cs typeface="Golos Text" panose="020B0503020202020204" pitchFamily="34" charset="0"/>
              </a:rPr>
              <a:t>Развитая система фильтрации и сортировки.</a:t>
            </a: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ru-RU" sz="2200" dirty="0">
                <a:latin typeface="Golos Text" panose="020B0503020202020204" pitchFamily="34" charset="0"/>
                <a:cs typeface="Golos Text" panose="020B0503020202020204" pitchFamily="34" charset="0"/>
              </a:rPr>
              <a:t>Визуальная читаемость: сеточные структуры (Grid), контрастность, отступы.</a:t>
            </a: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ru-RU" sz="2200" dirty="0">
                <a:latin typeface="Golos Text" panose="020B0503020202020204" pitchFamily="34" charset="0"/>
                <a:cs typeface="Golos Text" panose="020B0503020202020204" pitchFamily="34" charset="0"/>
              </a:rPr>
              <a:t>Адаптивный дизайн — корректное отображение на всех устройствах.</a:t>
            </a:r>
          </a:p>
          <a:p>
            <a:pPr marL="171450" indent="-1714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ru-RU" sz="2200" dirty="0">
                <a:latin typeface="Golos Text" panose="020B0503020202020204" pitchFamily="34" charset="0"/>
                <a:cs typeface="Golos Text" panose="020B0503020202020204" pitchFamily="34" charset="0"/>
              </a:rPr>
              <a:t>Оптимизация изображений для быстрой загрузки.</a:t>
            </a:r>
          </a:p>
        </p:txBody>
      </p:sp>
    </p:spTree>
    <p:extLst>
      <p:ext uri="{BB962C8B-B14F-4D97-AF65-F5344CB8AC3E}">
        <p14:creationId xmlns:p14="http://schemas.microsoft.com/office/powerpoint/2010/main" val="11936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>
            <a:spLocks noGrp="1"/>
          </p:cNvSpPr>
          <p:nvPr>
            <p:ph type="title"/>
          </p:nvPr>
        </p:nvSpPr>
        <p:spPr>
          <a:xfrm>
            <a:off x="1778280" y="0"/>
            <a:ext cx="5587439" cy="5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Анализ сайта </a:t>
            </a:r>
            <a:r>
              <a:rPr lang="en-US" dirty="0"/>
              <a:t>DNS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470C9E4-2467-D933-348E-6ED0148E8F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552" y="760977"/>
            <a:ext cx="4864894" cy="2417585"/>
          </a:xfrm>
          <a:prstGeom prst="rect">
            <a:avLst/>
          </a:prstGeom>
          <a:ln w="9525">
            <a:solidFill>
              <a:schemeClr val="bg2">
                <a:lumMod val="90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97F818-549C-95E0-2753-19FA32696AF7}"/>
              </a:ext>
            </a:extLst>
          </p:cNvPr>
          <p:cNvSpPr txBox="1"/>
          <p:nvPr/>
        </p:nvSpPr>
        <p:spPr>
          <a:xfrm>
            <a:off x="454526" y="3356539"/>
            <a:ext cx="8234945" cy="783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ru-RU" sz="16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Сильные стороны: </a:t>
            </a:r>
            <a:r>
              <a:rPr lang="ru-RU" sz="16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высокая функциональность, развитая фильтрация, высокая скорость работы.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CACD3C-47BD-5058-C75A-FC88AE749867}"/>
              </a:ext>
            </a:extLst>
          </p:cNvPr>
          <p:cNvSpPr txBox="1"/>
          <p:nvPr/>
        </p:nvSpPr>
        <p:spPr>
          <a:xfrm>
            <a:off x="454525" y="4140343"/>
            <a:ext cx="8234945" cy="783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ru-RU" sz="16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Слабые стороны: </a:t>
            </a:r>
            <a:r>
              <a:rPr lang="ru-RU" sz="16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строгий, «технический» дизайн, информационная перегрузка, ошибки валидации кода.</a:t>
            </a:r>
          </a:p>
        </p:txBody>
      </p:sp>
    </p:spTree>
    <p:extLst>
      <p:ext uri="{BB962C8B-B14F-4D97-AF65-F5344CB8AC3E}">
        <p14:creationId xmlns:p14="http://schemas.microsoft.com/office/powerpoint/2010/main" val="1810161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>
            <a:spLocks noGrp="1"/>
          </p:cNvSpPr>
          <p:nvPr>
            <p:ph type="title"/>
          </p:nvPr>
        </p:nvSpPr>
        <p:spPr>
          <a:xfrm>
            <a:off x="1778280" y="0"/>
            <a:ext cx="5587439" cy="5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Анализ сайта М.Видео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6E1654-F9B5-914B-FCE4-16E6F38740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912" y="732125"/>
            <a:ext cx="4938176" cy="2454420"/>
          </a:xfrm>
          <a:prstGeom prst="rect">
            <a:avLst/>
          </a:prstGeom>
          <a:ln w="9525">
            <a:solidFill>
              <a:schemeClr val="bg2">
                <a:lumMod val="90000"/>
              </a:schemeClr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EBD208-167D-9A49-CA52-B4A5375290C4}"/>
              </a:ext>
            </a:extLst>
          </p:cNvPr>
          <p:cNvSpPr txBox="1"/>
          <p:nvPr/>
        </p:nvSpPr>
        <p:spPr>
          <a:xfrm>
            <a:off x="454526" y="3356539"/>
            <a:ext cx="8234945" cy="783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ru-RU" sz="16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Сильные стороны: </a:t>
            </a:r>
            <a:r>
              <a:rPr lang="ru-RU" sz="16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яркий фирменный стиль, отличный визуальный баланс, адаптивность.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EB55C-6FCD-55FE-E743-1D54D2F0D3EE}"/>
              </a:ext>
            </a:extLst>
          </p:cNvPr>
          <p:cNvSpPr txBox="1"/>
          <p:nvPr/>
        </p:nvSpPr>
        <p:spPr>
          <a:xfrm>
            <a:off x="454525" y="4140343"/>
            <a:ext cx="8234945" cy="414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ru-RU" sz="16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Слабые стороны: </a:t>
            </a:r>
            <a:r>
              <a:rPr lang="ru-RU" sz="16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фильтрация менее детальная, чем у конкурентов.</a:t>
            </a:r>
          </a:p>
        </p:txBody>
      </p:sp>
    </p:spTree>
    <p:extLst>
      <p:ext uri="{BB962C8B-B14F-4D97-AF65-F5344CB8AC3E}">
        <p14:creationId xmlns:p14="http://schemas.microsoft.com/office/powerpoint/2010/main" val="1043432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"/>
          <p:cNvSpPr txBox="1">
            <a:spLocks noGrp="1"/>
          </p:cNvSpPr>
          <p:nvPr>
            <p:ph type="title"/>
          </p:nvPr>
        </p:nvSpPr>
        <p:spPr>
          <a:xfrm>
            <a:off x="1778280" y="0"/>
            <a:ext cx="5587439" cy="5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Анализ сайта Эльдорадо</a:t>
            </a:r>
          </a:p>
        </p:txBody>
      </p:sp>
      <p:pic>
        <p:nvPicPr>
          <p:cNvPr id="2" name="Рисунок 1" descr="Розничная сеть «Эльдорадо» обновила интернет-магазин и завершила переход на  омниканальную модель">
            <a:extLst>
              <a:ext uri="{FF2B5EF4-FFF2-40B4-BE49-F238E27FC236}">
                <a16:creationId xmlns:a16="http://schemas.microsoft.com/office/drawing/2014/main" id="{D6E92C48-7A50-C591-A88F-3D8102297C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985" y="782226"/>
            <a:ext cx="4772025" cy="2545080"/>
          </a:xfrm>
          <a:prstGeom prst="rect">
            <a:avLst/>
          </a:prstGeom>
          <a:noFill/>
          <a:ln w="9525">
            <a:solidFill>
              <a:schemeClr val="bg2">
                <a:lumMod val="90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760286-C059-C573-1881-25F349CF4B1A}"/>
              </a:ext>
            </a:extLst>
          </p:cNvPr>
          <p:cNvSpPr txBox="1"/>
          <p:nvPr/>
        </p:nvSpPr>
        <p:spPr>
          <a:xfrm>
            <a:off x="454526" y="3356539"/>
            <a:ext cx="8234945" cy="414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ru-RU" sz="16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Сильные стороны: </a:t>
            </a:r>
            <a:r>
              <a:rPr lang="ru-RU" sz="16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акцент на скидки и акции, узнаваемый стиль.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4592A4-AF7D-746E-E157-31F07200C627}"/>
              </a:ext>
            </a:extLst>
          </p:cNvPr>
          <p:cNvSpPr txBox="1"/>
          <p:nvPr/>
        </p:nvSpPr>
        <p:spPr>
          <a:xfrm>
            <a:off x="454524" y="3771011"/>
            <a:ext cx="8234945" cy="783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ru-RU" sz="16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Слабые стороны: </a:t>
            </a:r>
            <a:r>
              <a:rPr lang="ru-RU" sz="16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визуальная перегруженность (шум), из-за обилия баннеров основной контент теряется.</a:t>
            </a:r>
          </a:p>
        </p:txBody>
      </p:sp>
    </p:spTree>
    <p:extLst>
      <p:ext uri="{BB962C8B-B14F-4D97-AF65-F5344CB8AC3E}">
        <p14:creationId xmlns:p14="http://schemas.microsoft.com/office/powerpoint/2010/main" val="3119036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76760B-22DF-EAEC-809D-782C2EF47955}"/>
              </a:ext>
            </a:extLst>
          </p:cNvPr>
          <p:cNvSpPr txBox="1"/>
          <p:nvPr/>
        </p:nvSpPr>
        <p:spPr>
          <a:xfrm>
            <a:off x="590746" y="2971648"/>
            <a:ext cx="7962506" cy="1153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ru-RU" sz="16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Крупные игроки жертвуют либо чистотой кода, либо визуальной простотой.</a:t>
            </a:r>
          </a:p>
          <a:p>
            <a:pPr>
              <a:lnSpc>
                <a:spcPct val="150000"/>
              </a:lnSpc>
              <a:buClr>
                <a:schemeClr val="dk1"/>
              </a:buClr>
              <a:buSzPct val="100000"/>
            </a:pPr>
            <a:r>
              <a:rPr lang="ru-RU" sz="16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Требования к нашему проекту: </a:t>
            </a:r>
            <a:r>
              <a:rPr lang="ru-RU" sz="16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баланс функциональности и дизайна, чистая адаптивная вёрстка, удобная фильтрация, отсутствие перегруженности.</a:t>
            </a:r>
          </a:p>
        </p:txBody>
      </p:sp>
      <p:sp>
        <p:nvSpPr>
          <p:cNvPr id="5" name="Google Shape;506;p30">
            <a:extLst>
              <a:ext uri="{FF2B5EF4-FFF2-40B4-BE49-F238E27FC236}">
                <a16:creationId xmlns:a16="http://schemas.microsoft.com/office/drawing/2014/main" id="{F9834787-7211-C73C-99E3-2E17B23F22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8280" y="0"/>
            <a:ext cx="5587439" cy="5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Общий вывод анализа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1A6E962-A25E-B6D7-CB12-DE80BDCC27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48" y="1018716"/>
            <a:ext cx="2903568" cy="1442914"/>
          </a:xfrm>
          <a:prstGeom prst="rect">
            <a:avLst/>
          </a:prstGeom>
          <a:ln w="9525">
            <a:solidFill>
              <a:schemeClr val="bg2">
                <a:lumMod val="90000"/>
              </a:schemeClr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A783EB0-9369-41E0-C9CC-3B4C8386D2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215" y="1018716"/>
            <a:ext cx="2903568" cy="1443159"/>
          </a:xfrm>
          <a:prstGeom prst="rect">
            <a:avLst/>
          </a:prstGeom>
          <a:ln w="9525">
            <a:solidFill>
              <a:schemeClr val="bg2">
                <a:lumMod val="90000"/>
              </a:schemeClr>
            </a:solidFill>
          </a:ln>
        </p:spPr>
      </p:pic>
      <p:pic>
        <p:nvPicPr>
          <p:cNvPr id="8" name="Рисунок 7" descr="Розничная сеть «Эльдорадо» обновила интернет-магазин и завершила переход на  омниканальную модель">
            <a:extLst>
              <a:ext uri="{FF2B5EF4-FFF2-40B4-BE49-F238E27FC236}">
                <a16:creationId xmlns:a16="http://schemas.microsoft.com/office/drawing/2014/main" id="{8ED38CF4-496C-D5E8-1AA0-EF66A8629EE4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285" y="1018716"/>
            <a:ext cx="2903567" cy="1442914"/>
          </a:xfrm>
          <a:prstGeom prst="rect">
            <a:avLst/>
          </a:prstGeom>
          <a:noFill/>
          <a:ln w="9525"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10974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06;p30">
            <a:extLst>
              <a:ext uri="{FF2B5EF4-FFF2-40B4-BE49-F238E27FC236}">
                <a16:creationId xmlns:a16="http://schemas.microsoft.com/office/drawing/2014/main" id="{F9834787-7211-C73C-99E3-2E17B23F22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4513" y="0"/>
            <a:ext cx="6774972" cy="5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Разработка дизайн-макета в </a:t>
            </a:r>
            <a:r>
              <a:rPr lang="en-US" dirty="0"/>
              <a:t>Figma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0B5E64-FB7A-BDB3-F739-D9A6975541C3}"/>
              </a:ext>
            </a:extLst>
          </p:cNvPr>
          <p:cNvSpPr txBox="1"/>
          <p:nvPr/>
        </p:nvSpPr>
        <p:spPr>
          <a:xfrm>
            <a:off x="384387" y="729157"/>
            <a:ext cx="4732368" cy="373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Созданы макеты для десктопной и мобильной версий.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Цветовая схема: тёмно-синий (#4F7CAC) + белый (#F7FAFC) — надёжность, контраст.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Структура: шапка (логотип, меню), </a:t>
            </a:r>
            <a:r>
              <a:rPr lang="ru-RU" sz="1600" dirty="0" err="1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Hero</a:t>
            </a:r>
            <a:r>
              <a:rPr lang="ru-RU" sz="16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-блок, блок категорий, каталог товаров (сетка карточек), подвал с контактами.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Все элементы спроектированы с учётом адаптивности.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B3DCF1C-CAA6-7148-E7C4-940D4E22E1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4165" y="815205"/>
            <a:ext cx="3155448" cy="356636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87546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06;p30">
            <a:extLst>
              <a:ext uri="{FF2B5EF4-FFF2-40B4-BE49-F238E27FC236}">
                <a16:creationId xmlns:a16="http://schemas.microsoft.com/office/drawing/2014/main" id="{F9834787-7211-C73C-99E3-2E17B23F22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7402" y="0"/>
            <a:ext cx="6749193" cy="5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Вёрстка и файловая структура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D0850F-E028-6B24-95B1-079CDB22809C}"/>
              </a:ext>
            </a:extLst>
          </p:cNvPr>
          <p:cNvSpPr txBox="1"/>
          <p:nvPr/>
        </p:nvSpPr>
        <p:spPr>
          <a:xfrm>
            <a:off x="384387" y="729157"/>
            <a:ext cx="4732368" cy="414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endParaRPr lang="ru-RU" sz="1600" dirty="0">
              <a:solidFill>
                <a:schemeClr val="dk1"/>
              </a:solidFill>
              <a:latin typeface="Golos Text" panose="020B0503020202020204" pitchFamily="34" charset="0"/>
              <a:cs typeface="Golos Text" panose="020B0503020202020204" pitchFamily="34" charset="0"/>
              <a:sym typeface="Assistan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E4C4D4-F81B-71C4-5211-1DED858BEC96}"/>
              </a:ext>
            </a:extLst>
          </p:cNvPr>
          <p:cNvSpPr txBox="1"/>
          <p:nvPr/>
        </p:nvSpPr>
        <p:spPr>
          <a:xfrm>
            <a:off x="384387" y="729157"/>
            <a:ext cx="7654713" cy="3363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Файловая структура: </a:t>
            </a:r>
            <a:r>
              <a:rPr lang="ru-RU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папки </a:t>
            </a:r>
            <a:r>
              <a:rPr lang="en-US" sz="1800" dirty="0" err="1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css</a:t>
            </a:r>
            <a:r>
              <a:rPr lang="en-US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js</a:t>
            </a:r>
            <a:r>
              <a:rPr lang="en-US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, </a:t>
            </a:r>
            <a:r>
              <a:rPr lang="en-US" sz="1800" dirty="0" err="1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img</a:t>
            </a:r>
            <a:r>
              <a:rPr lang="en-US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, </a:t>
            </a:r>
            <a:r>
              <a:rPr lang="ru-RU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файл </a:t>
            </a:r>
            <a:r>
              <a:rPr lang="en-US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index.html.</a:t>
            </a:r>
            <a:endParaRPr lang="ru-RU" sz="1800" dirty="0">
              <a:solidFill>
                <a:schemeClr val="dk1"/>
              </a:solidFill>
              <a:latin typeface="Golos Text" panose="020B0503020202020204" pitchFamily="34" charset="0"/>
              <a:cs typeface="Golos Text" panose="020B0503020202020204" pitchFamily="34" charset="0"/>
              <a:sym typeface="Assistant"/>
            </a:endParaRP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Семантическая разметка: </a:t>
            </a:r>
            <a:r>
              <a:rPr lang="ru-RU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&lt;</a:t>
            </a:r>
            <a:r>
              <a:rPr lang="en-US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header&gt;, &lt;nav&gt;, &lt;main&gt;, &lt;section&gt;, &lt;footer&gt;.</a:t>
            </a:r>
            <a:endParaRPr lang="ru-RU" sz="1800" dirty="0">
              <a:solidFill>
                <a:schemeClr val="dk1"/>
              </a:solidFill>
              <a:latin typeface="Golos Text" panose="020B0503020202020204" pitchFamily="34" charset="0"/>
              <a:cs typeface="Golos Text" panose="020B0503020202020204" pitchFamily="34" charset="0"/>
              <a:sym typeface="Assistant"/>
            </a:endParaRP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Сброс стилей </a:t>
            </a:r>
            <a:r>
              <a:rPr lang="ru-RU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и </a:t>
            </a:r>
            <a:r>
              <a:rPr lang="en-US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CSS-</a:t>
            </a:r>
            <a:r>
              <a:rPr lang="ru-RU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переменные для единообразия.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Сетка товаров: </a:t>
            </a:r>
            <a:r>
              <a:rPr lang="en-US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CSS Grid (</a:t>
            </a:r>
            <a:r>
              <a:rPr lang="ru-RU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адаптивное количество колонок).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Позиционирование элементов: </a:t>
            </a:r>
            <a:r>
              <a:rPr lang="en-US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Flexbox.</a:t>
            </a:r>
            <a:endParaRPr lang="ru-RU" sz="1800" dirty="0">
              <a:solidFill>
                <a:schemeClr val="dk1"/>
              </a:solidFill>
              <a:latin typeface="Golos Text" panose="020B0503020202020204" pitchFamily="34" charset="0"/>
              <a:cs typeface="Golos Text" panose="020B0503020202020204" pitchFamily="34" charset="0"/>
              <a:sym typeface="Assistant"/>
            </a:endParaRP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Медиа-запросы</a:t>
            </a:r>
            <a:r>
              <a:rPr lang="ru-RU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 для трёх ключевых точек перелома (десктоп, планшет, мобильные).</a:t>
            </a:r>
          </a:p>
        </p:txBody>
      </p:sp>
    </p:spTree>
    <p:extLst>
      <p:ext uri="{BB962C8B-B14F-4D97-AF65-F5344CB8AC3E}">
        <p14:creationId xmlns:p14="http://schemas.microsoft.com/office/powerpoint/2010/main" val="3843164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06;p30">
            <a:extLst>
              <a:ext uri="{FF2B5EF4-FFF2-40B4-BE49-F238E27FC236}">
                <a16:creationId xmlns:a16="http://schemas.microsoft.com/office/drawing/2014/main" id="{F9834787-7211-C73C-99E3-2E17B23F22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346" y="-1"/>
            <a:ext cx="7925308" cy="10577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Адаптивность и мобильное меню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5CFBDB-EDC8-17D3-0AE3-33F2AE2A773B}"/>
              </a:ext>
            </a:extLst>
          </p:cNvPr>
          <p:cNvSpPr txBox="1"/>
          <p:nvPr/>
        </p:nvSpPr>
        <p:spPr>
          <a:xfrm>
            <a:off x="384387" y="729157"/>
            <a:ext cx="7654713" cy="3726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Медиа-запросы</a:t>
            </a:r>
            <a:r>
              <a:rPr lang="ru-RU" sz="20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 изменяют количество колонок, размеры шрифтов, расположение блоков.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На мобильных устройствах меню скрыто за бургер-иконкой.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JavaScript</a:t>
            </a:r>
            <a:r>
              <a:rPr lang="ru-RU" sz="20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 добавляет/удаляет класс при клике, показывая навигацию.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Все элементы интерфейса удобны для сенсорного управления.</a:t>
            </a:r>
          </a:p>
        </p:txBody>
      </p:sp>
    </p:spTree>
    <p:extLst>
      <p:ext uri="{BB962C8B-B14F-4D97-AF65-F5344CB8AC3E}">
        <p14:creationId xmlns:p14="http://schemas.microsoft.com/office/powerpoint/2010/main" val="3524622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06;p30">
            <a:extLst>
              <a:ext uri="{FF2B5EF4-FFF2-40B4-BE49-F238E27FC236}">
                <a16:creationId xmlns:a16="http://schemas.microsoft.com/office/drawing/2014/main" id="{F9834787-7211-C73C-99E3-2E17B23F22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346" y="0"/>
            <a:ext cx="7925308" cy="74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Реализация функционала на </a:t>
            </a:r>
            <a:r>
              <a:rPr lang="en-US" dirty="0"/>
              <a:t>JavaScript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6BDC38-244E-B20F-06C6-32054AD55E25}"/>
              </a:ext>
            </a:extLst>
          </p:cNvPr>
          <p:cNvSpPr txBox="1"/>
          <p:nvPr/>
        </p:nvSpPr>
        <p:spPr>
          <a:xfrm>
            <a:off x="314071" y="682386"/>
            <a:ext cx="7654713" cy="3778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Массив товаров </a:t>
            </a:r>
            <a:r>
              <a:rPr lang="ru-RU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(название, цена, категория, описание, изображение).</a:t>
            </a: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Динамический рендеринг: </a:t>
            </a:r>
            <a:r>
              <a:rPr lang="ru-RU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карточки генерируются при загрузке страницы.</a:t>
            </a: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Фильтрация по категориям: </a:t>
            </a:r>
            <a:r>
              <a:rPr lang="ru-RU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метод </a:t>
            </a:r>
            <a:r>
              <a:rPr lang="ru-RU" sz="1800" dirty="0" err="1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filter</a:t>
            </a:r>
            <a:r>
              <a:rPr lang="ru-RU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 с последующим обновлением сетки.</a:t>
            </a: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Модальное окно: </a:t>
            </a:r>
            <a:r>
              <a:rPr lang="ru-RU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при клике «Подробнее» вызывается </a:t>
            </a:r>
            <a:r>
              <a:rPr lang="ru-RU" sz="1800" dirty="0" err="1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find</a:t>
            </a:r>
            <a:r>
              <a:rPr lang="ru-RU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 по ID товара, окно заполняется данными.</a:t>
            </a:r>
          </a:p>
          <a:p>
            <a:pPr marL="342900" indent="-34290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Весь интерфейс работает без перезагрузки страницы.</a:t>
            </a:r>
          </a:p>
        </p:txBody>
      </p:sp>
    </p:spTree>
    <p:extLst>
      <p:ext uri="{BB962C8B-B14F-4D97-AF65-F5344CB8AC3E}">
        <p14:creationId xmlns:p14="http://schemas.microsoft.com/office/powerpoint/2010/main" val="1121074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06;p30">
            <a:extLst>
              <a:ext uri="{FF2B5EF4-FFF2-40B4-BE49-F238E27FC236}">
                <a16:creationId xmlns:a16="http://schemas.microsoft.com/office/drawing/2014/main" id="{F9834787-7211-C73C-99E3-2E17B23F22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6261" y="-76200"/>
            <a:ext cx="7991472" cy="6478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Тестирование, оптимизация и результаты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F5611A-5645-FF92-3030-83361E24360E}"/>
              </a:ext>
            </a:extLst>
          </p:cNvPr>
          <p:cNvSpPr txBox="1"/>
          <p:nvPr/>
        </p:nvSpPr>
        <p:spPr>
          <a:xfrm>
            <a:off x="285496" y="653811"/>
            <a:ext cx="7654713" cy="4194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Тестирование: </a:t>
            </a:r>
            <a:r>
              <a:rPr lang="ru-RU" sz="1800" dirty="0" err="1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Chrome</a:t>
            </a:r>
            <a:r>
              <a:rPr lang="ru-RU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, Firefox, Safari, мобильные устройства — всё работает корректно.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Оптимизация: </a:t>
            </a:r>
            <a:r>
              <a:rPr lang="ru-RU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сжатие изображений, минимизация кода, проверка производительности в </a:t>
            </a:r>
            <a:r>
              <a:rPr lang="ru-RU" sz="1800" dirty="0" err="1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DevTools</a:t>
            </a:r>
            <a:r>
              <a:rPr lang="ru-RU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.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Результат: </a:t>
            </a:r>
            <a:r>
              <a:rPr lang="ru-RU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разработан и опубликован полностью адаптивный сайт-каталог «SainSan», соответствующий современным веб-стандартам.</a:t>
            </a: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Перспективы развития: </a:t>
            </a:r>
            <a:r>
              <a:rPr lang="ru-RU" sz="1800" dirty="0">
                <a:solidFill>
                  <a:schemeClr val="dk1"/>
                </a:solidFill>
                <a:latin typeface="Golos Text" panose="020B0503020202020204" pitchFamily="34" charset="0"/>
                <a:cs typeface="Golos Text" panose="020B0503020202020204" pitchFamily="34" charset="0"/>
                <a:sym typeface="Assistant"/>
              </a:rPr>
              <a:t>подключение базы данных, регистрация пользователей, функционал корзины и оформления заказов.</a:t>
            </a:r>
          </a:p>
        </p:txBody>
      </p:sp>
    </p:spTree>
    <p:extLst>
      <p:ext uri="{BB962C8B-B14F-4D97-AF65-F5344CB8AC3E}">
        <p14:creationId xmlns:p14="http://schemas.microsoft.com/office/powerpoint/2010/main" val="226783601"/>
      </p:ext>
    </p:extLst>
  </p:cSld>
  <p:clrMapOvr>
    <a:masterClrMapping/>
  </p:clrMapOvr>
</p:sld>
</file>

<file path=ppt/theme/theme1.xml><?xml version="1.0" encoding="utf-8"?>
<a:theme xmlns:a="http://schemas.openxmlformats.org/drawingml/2006/main" name="Clean Aesthetic Style Marketing Plan by Slidesgo">
  <a:themeElements>
    <a:clrScheme name="Simple Light">
      <a:dk1>
        <a:srgbClr val="494949"/>
      </a:dk1>
      <a:lt1>
        <a:srgbClr val="F3F3F3"/>
      </a:lt1>
      <a:dk2>
        <a:srgbClr val="52514D"/>
      </a:dk2>
      <a:lt2>
        <a:srgbClr val="807F7A"/>
      </a:lt2>
      <a:accent1>
        <a:srgbClr val="A1A1A1"/>
      </a:accent1>
      <a:accent2>
        <a:srgbClr val="CCCCC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949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715</Words>
  <Application>Microsoft Office PowerPoint</Application>
  <PresentationFormat>Экран (16:9)</PresentationFormat>
  <Paragraphs>82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Assistant</vt:lpstr>
      <vt:lpstr>Sora</vt:lpstr>
      <vt:lpstr>Golos Text</vt:lpstr>
      <vt:lpstr>Arial</vt:lpstr>
      <vt:lpstr>Clean Aesthetic Style Marketing Plan by Slidesgo</vt:lpstr>
      <vt:lpstr>РАЗРАБОТКА, АДАПТАЦИЯ И ПУБЛИКАЦИЯ САЙТА-КАТАЛОГА</vt:lpstr>
      <vt:lpstr>Актуальность работы</vt:lpstr>
      <vt:lpstr>Цель и объект</vt:lpstr>
      <vt:lpstr>Задачи работы</vt:lpstr>
      <vt:lpstr>Понятие сайта-каталога</vt:lpstr>
      <vt:lpstr>Способы создания сайтов-каталогов</vt:lpstr>
      <vt:lpstr>Особенности веб-дизайна сайтов-каталогов</vt:lpstr>
      <vt:lpstr>Анализ сайта DNS</vt:lpstr>
      <vt:lpstr>Анализ сайта М.Видео</vt:lpstr>
      <vt:lpstr>Анализ сайта Эльдорадо</vt:lpstr>
      <vt:lpstr>Общий вывод анализа</vt:lpstr>
      <vt:lpstr>Разработка дизайн-макета в Figma</vt:lpstr>
      <vt:lpstr>Вёрстка и файловая структура</vt:lpstr>
      <vt:lpstr>Адаптивность и мобильное меню</vt:lpstr>
      <vt:lpstr>Реализация функционала на JavaScript</vt:lpstr>
      <vt:lpstr>Тестирование, оптимизация и результаты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_ TheGreenYP _</cp:lastModifiedBy>
  <cp:revision>37</cp:revision>
  <dcterms:modified xsi:type="dcterms:W3CDTF">2026-03-30T08:09:24Z</dcterms:modified>
</cp:coreProperties>
</file>